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各位好，本次汇报的项目是"点评销售智能助手"。它是一套面向销售人员的智能工作台，把分散在数据库、话术文档、历史 PDF/PPTX 和业务记录中的信息，整理成可查询、可引用、可导出、可审核的销售工作流。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目前登录、查询、生成、预览和三类 PPTX 导出均已完成运行中验收。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这个项目要解决的不是"让模型回答所有问题"，而是销售日常工作中四类高频重复劳动：查案例、找话术、写方案、做周报。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核心思路是分层：业务事实、历史依据、用户输入、模型生成各自独立，通过引用和审核机制降低误用风险。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这一页用一张表概括项目全貌：服务谁、有哪些模块、用到哪些智能能力、业务闭环怎么走、当前到了什么阶段。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当前阶段：登录、查询、生成、预览和三类 PPTX 导出链路已全部通过运行中验收。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这一页是产品能力地图。五个模块分别对应销售日常工作的五个高频场景。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中间深蓝卡片是本项目的重点——营销方案生成，它把结构化商家资料、八章定向检索、历史案例引用和正文生成串起来。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这一页讲清楚两件事：一是端到端流程怎么跑，二是不同角色分别能做什么、系统给什么支持。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关键体验是：销售和审核两类账号登录后各自进入独立工作区，最近账号免密切换；销售完成查询、生成、预览后可直接下载客户版 PPTX。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架构分六层，每一层职责单一。前端 Next.js、接口 FastAPI、编排 LangGraph、模型 DeepSeek+BGE、数据 MySQL+Chroma、交付 PPTX 生成与逐页预览。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关键设计取舍：模型只负责语言理解和表达，业务事实、向量索引、导出格式都由确定性代码和模板控制。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五类 Agent 各司其职。Supervisor 是总控，负责意图识别和路由；Search、SalesScript、Proposal 是三个业务分支 Agent；ResponseAgent 负责把结果整理成用户可读的答复或客户版报告。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关键控制原则：每个 Agent 都有明确的数据边界，不补造来源、不越界。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知识库分四类：历史案例走 MySQL 结构化数据，销售话术走 BGE 向量库，历史文档按页/按幻灯片切分写入独立集合，方案检索按八章分章匹配。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OCR 是补充能力，只在原生文字不足时按需调用。阿嫂 PPTX 的修复案例证明了这条流水线能正确识别画布内内容、排除画布外备用图。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这一页讲售中售后闭环。四个环节：按商家名称快速定位项目、录入周数据生成周报、汇总项目信息生成合作复盘、最后统一输出客户版 PPTX。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关键体验是：销售在网页端即可看到结果并直接下载客户版文档，不需要再做二次排版。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验收一共覆盖七个方面：服务启动、登录、历史案例与话术、营销方案生成、报告导出、输出质量、逐页预览。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最关键的数字是：所有 PPTX 导出一共 34 页通过渲染检查；三类 PPTX 都完成了结构、字体、版面和逐页渲染检查。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项目亮点集中在五个方面：全流程工作台、知识集合隔离、结构化与八章结合、客户版 PPTX 交付、连贯演示体验。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最重要的产出是把销售工作中分散的查询、写作、跟进、审核和汇报动作，整理成一套可复用、可追踪、可继续扩展的业务系统。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最后总结。个人收获主要有三点：全链路思考、组合式工程方法、从用户场景出发的开发方法。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项目当前状态：登录、查询、生成、预览和三类 PPTX 导出均已完成运行中验收。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以上是本次项目汇报的全部内容，感谢各位老师和同学的聆听，欢迎提问。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7" Type="http://schemas.openxmlformats.org/officeDocument/2006/relationships/notesSlide" Target="../notesSlides/notesSlide6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1016000" y="1651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点评销售智能助手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984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F4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面向销售全流程的智能工作台项目总结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3683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历史案例查询 · 销售话术辅助 · 营销方案生成 · 售中周报 · 售后总结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558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D1C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项目答辩 | 2026 年 10 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508000" y="3556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811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为什么要做这个项目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508040" y="908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61D5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508000" y="11684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销售工作中的四类痛点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508000" y="1651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痛点一 历史案例反复查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合作案例散落在表格、指标和旧项目资料中，按城市、赛道、商家定位成本高</a:t>
            </a:r>
            <a:endParaRPr lang="en-US" sz="13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508000" y="2540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痛点二 客户异议重复出现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价格、合作沟通等场景需要快速找到经过维护的候选话术，并保留来源与审核提示</a:t>
            </a:r>
            <a:endParaRPr lang="en-US" sz="13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508000" y="3429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痛点三 营销方案人工整理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依赖大量历史案例和商家资料，容易漏客群、预算、执行周期等关键字段</a:t>
            </a:r>
            <a:endParaRPr lang="en-US" sz="13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508000" y="4318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痛点四 周报与汇报重复填报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售中周报、售后总结、PPT 汇报之间数据、结论、交付物缺少统一链路</a:t>
            </a:r>
            <a:endParaRPr lang="en-US" sz="13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6604000" y="11684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核心思路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1651000"/>
            <a:ext cx="5080000" cy="3429000"/>
          </a:xfrm>
          <a:prstGeom prst="roundRect">
            <a:avLst>
              <a:gd name="adj" fmla="val 2962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61D5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6858000" y="1879600"/>
            <a:ext cx="4572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不让模型自由发挥，而是把四层信息显式分层：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300" b="1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业务事实</a:t>
            </a: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：MySQL 结构化数据</a:t>
            </a:r>
            <a:endParaRPr lang="en-US" sz="13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300" b="1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历史依据</a:t>
            </a: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：话术文档、PDF/PPTX</a:t>
            </a:r>
            <a:endParaRPr lang="en-US" sz="13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300" b="1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用户输入</a:t>
            </a: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：商家资料、周数据</a:t>
            </a:r>
            <a:endParaRPr lang="en-US" sz="13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300" b="1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模型生成</a:t>
            </a: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：正文、方案、报告</a:t>
            </a:r>
            <a:endParaRPr lang="en-US" sz="13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再通过</a:t>
            </a:r>
            <a:r>
              <a:rPr lang="en-US" sz="1300" b="1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引用、审核状态、导出检查</a:t>
            </a: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降低误用风险。</a:t>
            </a:r>
            <a:endParaRPr lang="en-US" sz="13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508000" y="5715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项目价值：</a:t>
            </a: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把分散在数据库、话术文档、历史 PDF/PPTX 和业务记录中的信息，整理为可查询、可引用、可导出、可审核的销售工作流，减少重复查找和手工整理。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508000" y="3556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811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项目概览：面向销售全流程的智能工作台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508040" y="908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61D5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508000" y="10922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一句话定位：覆盖历史合作案例查询、销售话术辅助、营销方案生成，以及售中周报和售后合作总结。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08000" y="1651000"/>
          <a:ext cx="11176000" cy="431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9144000"/>
              </a:tblGrid>
              <a:tr h="647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D5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项目结论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D59">
                        <a:alpha val="100000"/>
                      </a:srgbClr>
                    </a:solidFill>
                  </a:tcPr>
                </a:tc>
              </a:tr>
              <a:tr h="736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61D5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服务对象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E5F7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91D3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销售人员、审核人员、销售管理者和售后协作人员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6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61D5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核心模块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E5F7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91D3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历史案例、销售话术、营销方案、售中周报、售后合作总结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6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61D5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智能能力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E5F7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91D3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意图识别、结构化查询、向量检索、OCR 案例引用、方案生成与 PPTX 导出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6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61D5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业务闭环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E5F7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91D3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登录 → 查询或生成 → 销售使用 / 提交 → 审核 → 导出和协作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3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61D5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当前阶段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E5F7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91D3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登录、查询、生成、预览和三类 PPTX 导出链路已通过运行中验收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508000" y="3556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811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产品能力地图：覆盖销售全流程五大模块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508040" y="908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61D5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508000" y="11430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从售前资料准备 → 售中跟进 → 售后总结，五个模块串成完整销售工作流。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778000"/>
            <a:ext cx="2159000" cy="4064000"/>
          </a:xfrm>
          <a:prstGeom prst="roundRect">
            <a:avLst>
              <a:gd name="adj" fmla="val 4705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61D5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635000" y="1968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历史案例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26443">
            <a:off x="762024" y="2406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61D5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635000" y="2540000"/>
            <a:ext cx="1905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按商家名称、城市、赛道查询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摘要与逐条详情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完整指标可追溯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CSV 下载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1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对销售帮助</a:t>
            </a:r>
            <a:endParaRPr lang="en-US" sz="1100" b="1" i="0" u="none" strike="noStrike">
              <a:solidFill>
                <a:srgbClr val="061D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快速找到相似项目和可引用指标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844800" y="1778000"/>
            <a:ext cx="2159000" cy="4064000"/>
          </a:xfrm>
          <a:prstGeom prst="roundRect">
            <a:avLst>
              <a:gd name="adj" fmla="val 4705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61D5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2971800" y="1968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销售话术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26443">
            <a:off x="3098824" y="2406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61D5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2971800" y="2540000"/>
            <a:ext cx="1905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基于 sell_talk.md 检索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返回候选片段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显示章节与引用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保留审核状态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1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对销售帮助</a:t>
            </a:r>
            <a:endParaRPr lang="en-US" sz="1100" b="1" i="0" u="none" strike="noStrike">
              <a:solidFill>
                <a:srgbClr val="061D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快速准备异议、价格、合作沟通回复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181600" y="1778000"/>
            <a:ext cx="2159000" cy="4064000"/>
          </a:xfrm>
          <a:prstGeom prst="roundRect">
            <a:avLst>
              <a:gd name="adj" fmla="val 4705"/>
            </a:avLst>
          </a:prstGeom>
          <a:solidFill>
            <a:srgbClr val="061D59">
              <a:alpha val="90000"/>
            </a:srgbClr>
          </a:solidFill>
          <a:ln w="12700" cap="flat" cmpd="sng">
            <a:solidFill>
              <a:srgbClr val="061D5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5308600" y="1968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营销方案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26443">
            <a:off x="5435624" y="2406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 txBox="1"/>
          <p:nvPr/>
        </p:nvSpPr>
        <p:spPr>
          <a:xfrm>
            <a:off x="5308600" y="2540000"/>
            <a:ext cx="1905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结构化商家资料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八章定向检索</a:t>
            </a:r>
            <a:endParaRPr lang="en-US" sz="1100" b="0" i="0" u="none" strike="noStrike">
              <a:solidFill>
                <a:srgbClr val="FFFFFF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历史案例引用</a:t>
            </a:r>
            <a:endParaRPr lang="en-US" sz="1100" b="0" i="0" u="none" strike="noStrike">
              <a:solidFill>
                <a:srgbClr val="FFFFFF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正文生成与缺失项提示</a:t>
            </a:r>
            <a:endParaRPr lang="en-US" sz="1100" b="0" i="0" u="none" strike="noStrike">
              <a:solidFill>
                <a:srgbClr val="FFFFFF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对销售帮助</a:t>
            </a:r>
            <a:endParaRPr lang="en-US" sz="11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减少从零写方案，明确缺失信息与参考依据</a:t>
            </a:r>
            <a:endParaRPr lang="en-US" sz="1100" b="0" i="0" u="none" strike="noStrike">
              <a:solidFill>
                <a:srgbClr val="FFFFFF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518400" y="1778000"/>
            <a:ext cx="2159000" cy="4064000"/>
          </a:xfrm>
          <a:prstGeom prst="roundRect">
            <a:avLst>
              <a:gd name="adj" fmla="val 4705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61D5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7645400" y="1968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售中管理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6443">
            <a:off x="7772424" y="2406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61D5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 txBox="1"/>
          <p:nvPr/>
        </p:nvSpPr>
        <p:spPr>
          <a:xfrm>
            <a:off x="7645400" y="2540000"/>
            <a:ext cx="1905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按商家名称定位项目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填写周数据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即时生成周报 PPTX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提交进入待审核表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1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对销售帮助</a:t>
            </a:r>
            <a:endParaRPr lang="en-US" sz="1100" b="1" i="0" u="none" strike="noStrike">
              <a:solidFill>
                <a:srgbClr val="061D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减少周报整理工作，支持提交和审核分离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855200" y="1778000"/>
            <a:ext cx="2159000" cy="4064000"/>
          </a:xfrm>
          <a:prstGeom prst="roundRect">
            <a:avLst>
              <a:gd name="adj" fmla="val 4705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61D5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9982200" y="1968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售后总结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26443">
            <a:off x="10109224" y="2406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61D5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 txBox="1"/>
          <p:nvPr/>
        </p:nvSpPr>
        <p:spPr>
          <a:xfrm>
            <a:off x="9982200" y="2540000"/>
            <a:ext cx="1905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生成合作总结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项目状态与阶段结果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导出客户版 PPTX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版面与字体检查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1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对销售帮助</a:t>
            </a:r>
            <a:endParaRPr lang="en-US" sz="1100" b="1" i="0" u="none" strike="noStrike">
              <a:solidFill>
                <a:srgbClr val="061D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把合作过程整理成可交付的客户版材料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 txBox="1"/>
          <p:nvPr/>
        </p:nvSpPr>
        <p:spPr>
          <a:xfrm>
            <a:off x="508000" y="6096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A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中间深蓝卡片为本项目重点模块——营销方案生成，其余四块围绕它形成售前、售中、售后的完整链路。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508000" y="3556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811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用户流程与角色：从单一聊天入口到销售工作台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508040" y="908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61D5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508000" y="1092200"/>
            <a:ext cx="1117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系统支持销售与审核两类账号登录、角色识别、最近账号记录和快速切换。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508000" y="1498600"/>
            <a:ext cx="1117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典型端到端流程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1905000"/>
            <a:ext cx="1778000" cy="762000"/>
          </a:xfrm>
          <a:prstGeom prst="roundRect">
            <a:avLst>
              <a:gd name="adj" fmla="val 10000"/>
            </a:avLst>
          </a:prstGeom>
          <a:solidFill>
            <a:srgbClr val="061D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508000" y="203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用户登录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角色识别</a:t>
            </a:r>
            <a:endParaRPr lang="en-US" sz="1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-171744">
            <a:off x="2286159" y="2279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61D59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0" name="AutoShape 10"/>
          <p:cNvSpPr/>
          <p:nvPr/>
        </p:nvSpPr>
        <p:spPr>
          <a:xfrm>
            <a:off x="2540000" y="1905000"/>
            <a:ext cx="17780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61D5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2540000" y="203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选择业务场景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查案例/话术/方案</a:t>
            </a:r>
            <a:endParaRPr lang="en-US" sz="1200" b="1" i="0" u="none" strike="noStrike">
              <a:solidFill>
                <a:srgbClr val="061D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-171744">
            <a:off x="4318159" y="2279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61D59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4572000" y="1905000"/>
            <a:ext cx="17780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61D5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4572000" y="203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输入资料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自然语言/结构化</a:t>
            </a:r>
            <a:endParaRPr lang="en-US" sz="1200" b="1" i="0" u="none" strike="noStrike">
              <a:solidFill>
                <a:srgbClr val="061D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171744">
            <a:off x="6350159" y="2279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61D59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6" name="AutoShape 16"/>
          <p:cNvSpPr/>
          <p:nvPr/>
        </p:nvSpPr>
        <p:spPr>
          <a:xfrm>
            <a:off x="6604000" y="1905000"/>
            <a:ext cx="17780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61D5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6604000" y="203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系统检索生成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工作流</a:t>
            </a:r>
            <a:endParaRPr lang="en-US" sz="1200" b="1" i="0" u="none" strike="noStrike">
              <a:solidFill>
                <a:srgbClr val="061D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8"/>
          <p:cNvCxnSpPr/>
          <p:nvPr/>
        </p:nvCxnSpPr>
        <p:spPr>
          <a:xfrm rot="-171744">
            <a:off x="8382159" y="2279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61D59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9" name="AutoShape 19"/>
          <p:cNvSpPr/>
          <p:nvPr/>
        </p:nvSpPr>
        <p:spPr>
          <a:xfrm>
            <a:off x="8636000" y="1905000"/>
            <a:ext cx="17780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61D5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8636000" y="203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查看引用与正文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确认内容完整</a:t>
            </a:r>
            <a:endParaRPr lang="en-US" sz="1200" b="1" i="0" u="none" strike="noStrike">
              <a:solidFill>
                <a:srgbClr val="061D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-171744">
            <a:off x="10414159" y="2279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61D59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2" name="AutoShape 22"/>
          <p:cNvSpPr/>
          <p:nvPr/>
        </p:nvSpPr>
        <p:spPr>
          <a:xfrm>
            <a:off x="10668000" y="1905000"/>
            <a:ext cx="1270000" cy="762000"/>
          </a:xfrm>
          <a:prstGeom prst="roundRect">
            <a:avLst>
              <a:gd name="adj" fmla="val 10000"/>
            </a:avLst>
          </a:prstGeom>
          <a:solidFill>
            <a:srgbClr val="061D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10668000" y="2032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预览并下载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客户版 PPTX</a:t>
            </a:r>
            <a:endParaRPr lang="en-US" sz="1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 txBox="1"/>
          <p:nvPr/>
        </p:nvSpPr>
        <p:spPr>
          <a:xfrm>
            <a:off x="508000" y="2984500"/>
            <a:ext cx="1117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三类角色与系统支持</a:t>
            </a:r>
            <a:endParaRPr lang="en-US" sz="1100"/>
          </a:p>
        </p:txBody>
      </p:sp>
      <p:graphicFrame>
        <p:nvGraphicFramePr>
          <p:cNvPr id="25" name="Table 25"/>
          <p:cNvGraphicFramePr>
            <a:graphicFrameLocks noGrp="1"/>
          </p:cNvGraphicFramePr>
          <p:nvPr/>
        </p:nvGraphicFramePr>
        <p:xfrm>
          <a:off x="508000" y="3429000"/>
          <a:ext cx="11176000" cy="292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4826000"/>
                <a:gridCol w="4572000"/>
              </a:tblGrid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角色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D5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主要动作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D5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系统支持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D59">
                        <a:alpha val="100000"/>
                      </a:srgbClr>
                    </a:solidFill>
                  </a:tcPr>
                </a:tc>
              </a:tr>
              <a:tr h="800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61D5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销售用户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E5F7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91D3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查案例、查话术、填写商家资料、生成方案和报告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91D3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自然语言查询、结构化表单、预览与下载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0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61D5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审核用户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E5F7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91D3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登录审核工作区并查看对应业务界面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91D3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角色识别、独立工作区和账号切换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7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61D5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 Agent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E5F7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91D3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识别意图、检索资料、生成内容、导出文件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91D3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保留来源、结构化结果和客户版输出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508000" y="3556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811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总体技术架构：六层边界清晰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508040" y="908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61D5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508000" y="1092200"/>
            <a:ext cx="1117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 保存结构化业务数据，Chroma 保存检索向量，原始案例文件保留在文档目录，生成结果通过代码模板和校验规则整理为可展示内容。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508000" y="1587500"/>
            <a:ext cx="1651000" cy="660400"/>
          </a:xfrm>
          <a:prstGeom prst="roundRect">
            <a:avLst>
              <a:gd name="adj" fmla="val 7692"/>
            </a:avLst>
          </a:prstGeom>
          <a:solidFill>
            <a:srgbClr val="061D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>
            <p:custDataLst>
              <p:tags r:id="rId3"/>
            </p:custDataLst>
          </p:nvPr>
        </p:nvSpPr>
        <p:spPr>
          <a:xfrm>
            <a:off x="508000" y="17145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2222500" y="1587500"/>
            <a:ext cx="9461500" cy="660400"/>
          </a:xfrm>
          <a:prstGeom prst="roundRect">
            <a:avLst>
              <a:gd name="adj" fmla="val 7692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61D5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>
            <p:custDataLst>
              <p:tags r:id="rId5"/>
            </p:custDataLst>
          </p:nvPr>
        </p:nvSpPr>
        <p:spPr>
          <a:xfrm>
            <a:off x="2413000" y="1714500"/>
            <a:ext cx="914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Next.js · TypeScript · Microsoft YaHei</a:t>
            </a: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登录、聊天、项目选择、表单、预览和下载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508000" y="2324100"/>
            <a:ext cx="1651000" cy="660400"/>
          </a:xfrm>
          <a:prstGeom prst="roundRect">
            <a:avLst>
              <a:gd name="adj" fmla="val 7692"/>
            </a:avLst>
          </a:prstGeom>
          <a:solidFill>
            <a:srgbClr val="061D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>
            <p:custDataLst>
              <p:tags r:id="rId7"/>
            </p:custDataLst>
          </p:nvPr>
        </p:nvSpPr>
        <p:spPr>
          <a:xfrm>
            <a:off x="508000" y="24511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2222500" y="2324100"/>
            <a:ext cx="9461500" cy="660400"/>
          </a:xfrm>
          <a:prstGeom prst="roundRect">
            <a:avLst>
              <a:gd name="adj" fmla="val 7692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61D5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>
            <p:custDataLst>
              <p:tags r:id="rId9"/>
            </p:custDataLst>
          </p:nvPr>
        </p:nvSpPr>
        <p:spPr>
          <a:xfrm>
            <a:off x="2413000" y="2451100"/>
            <a:ext cx="914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FastAPI · Pydantic · HTTPX</a:t>
            </a: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认证、聊天、案例、审核和报告导出接口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508000" y="3060700"/>
            <a:ext cx="1651000" cy="660400"/>
          </a:xfrm>
          <a:prstGeom prst="roundRect">
            <a:avLst>
              <a:gd name="adj" fmla="val 7692"/>
            </a:avLst>
          </a:prstGeom>
          <a:solidFill>
            <a:srgbClr val="061D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>
            <p:custDataLst>
              <p:tags r:id="rId11"/>
            </p:custDataLst>
          </p:nvPr>
        </p:nvSpPr>
        <p:spPr>
          <a:xfrm>
            <a:off x="508000" y="31877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编排层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2222500" y="3060700"/>
            <a:ext cx="9461500" cy="660400"/>
          </a:xfrm>
          <a:prstGeom prst="roundRect">
            <a:avLst>
              <a:gd name="adj" fmla="val 7692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61D5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>
            <p:custDataLst>
              <p:tags r:id="rId13"/>
            </p:custDataLst>
          </p:nvPr>
        </p:nvSpPr>
        <p:spPr>
          <a:xfrm>
            <a:off x="2413000" y="3187700"/>
            <a:ext cx="914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LangGraph · 五类 Agent</a:t>
            </a: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总控路由、案例 / 话术 / 方案处理、答复整理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>
            <a:off x="508000" y="3797300"/>
            <a:ext cx="1651000" cy="660400"/>
          </a:xfrm>
          <a:prstGeom prst="roundRect">
            <a:avLst>
              <a:gd name="adj" fmla="val 7692"/>
            </a:avLst>
          </a:prstGeom>
          <a:solidFill>
            <a:srgbClr val="061D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>
            <p:custDataLst>
              <p:tags r:id="rId15"/>
            </p:custDataLst>
          </p:nvPr>
        </p:nvSpPr>
        <p:spPr>
          <a:xfrm>
            <a:off x="508000" y="39243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模型层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6"/>
            </p:custDataLst>
          </p:nvPr>
        </p:nvSpPr>
        <p:spPr>
          <a:xfrm>
            <a:off x="2222500" y="3797300"/>
            <a:ext cx="9461500" cy="660400"/>
          </a:xfrm>
          <a:prstGeom prst="roundRect">
            <a:avLst>
              <a:gd name="adj" fmla="val 7692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61D5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 txBox="1"/>
          <p:nvPr>
            <p:custDataLst>
              <p:tags r:id="rId17"/>
            </p:custDataLst>
          </p:nvPr>
        </p:nvSpPr>
        <p:spPr>
          <a:xfrm>
            <a:off x="2413000" y="3924300"/>
            <a:ext cx="914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DeepSeek· BGE 本地向量模型</a:t>
            </a: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结构化意图识别、正文生成和本地语义检索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8"/>
            </p:custDataLst>
          </p:nvPr>
        </p:nvSpPr>
        <p:spPr>
          <a:xfrm>
            <a:off x="508000" y="4533900"/>
            <a:ext cx="1651000" cy="660400"/>
          </a:xfrm>
          <a:prstGeom prst="roundRect">
            <a:avLst>
              <a:gd name="adj" fmla="val 7692"/>
            </a:avLst>
          </a:prstGeom>
          <a:solidFill>
            <a:srgbClr val="061D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>
            <p:custDataLst>
              <p:tags r:id="rId19"/>
            </p:custDataLst>
          </p:nvPr>
        </p:nvSpPr>
        <p:spPr>
          <a:xfrm>
            <a:off x="508000" y="46609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数据层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0"/>
            </p:custDataLst>
          </p:nvPr>
        </p:nvSpPr>
        <p:spPr>
          <a:xfrm>
            <a:off x="2222500" y="4533900"/>
            <a:ext cx="9461500" cy="660400"/>
          </a:xfrm>
          <a:prstGeom prst="roundRect">
            <a:avLst>
              <a:gd name="adj" fmla="val 7692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61D5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 txBox="1"/>
          <p:nvPr>
            <p:custDataLst>
              <p:tags r:id="rId21"/>
            </p:custDataLst>
          </p:nvPr>
        </p:nvSpPr>
        <p:spPr>
          <a:xfrm>
            <a:off x="2413000" y="4660900"/>
            <a:ext cx="914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 · Chroma · 原始 PDF/PPTX · OCR 缓存</a:t>
            </a: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业务记录、向量索引、来源文件与抽取结果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22"/>
            </p:custDataLst>
          </p:nvPr>
        </p:nvSpPr>
        <p:spPr>
          <a:xfrm>
            <a:off x="508000" y="5270500"/>
            <a:ext cx="1651000" cy="660400"/>
          </a:xfrm>
          <a:prstGeom prst="roundRect">
            <a:avLst>
              <a:gd name="adj" fmla="val 7692"/>
            </a:avLst>
          </a:prstGeom>
          <a:solidFill>
            <a:srgbClr val="061D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 txBox="1"/>
          <p:nvPr>
            <p:custDataLst>
              <p:tags r:id="rId23"/>
            </p:custDataLst>
          </p:nvPr>
        </p:nvSpPr>
        <p:spPr>
          <a:xfrm>
            <a:off x="508000" y="53975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交付层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24"/>
            </p:custDataLst>
          </p:nvPr>
        </p:nvSpPr>
        <p:spPr>
          <a:xfrm>
            <a:off x="2222500" y="5270500"/>
            <a:ext cx="9461500" cy="660400"/>
          </a:xfrm>
          <a:prstGeom prst="roundRect">
            <a:avLst>
              <a:gd name="adj" fmla="val 7692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61D5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 txBox="1"/>
          <p:nvPr>
            <p:custDataLst>
              <p:tags r:id="rId25"/>
            </p:custDataLst>
          </p:nvPr>
        </p:nvSpPr>
        <p:spPr>
          <a:xfrm>
            <a:off x="2413000" y="5397500"/>
            <a:ext cx="914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PPTX 生成 · 逐页预览 · 结构和版面检查</a:t>
            </a: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营销方案、项目周报和合作总结的客户版交付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508000" y="61595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A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关键取舍：模型只做语言理解和表达，业务事实、向量索引、导出格式都由确定性代码控制。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508000" y="3556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811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与智能工作流：五类 Agent 分工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508040" y="908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61D5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508000" y="10922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一次请求的基本链路：用户输入 → 总控识别 → 选择案例、话术、方案或运营分支 → 调用数据库 / 向量库 / 生成模型 → 保留引用和状态 → 输出网页结果或 PPTX。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714500"/>
            <a:ext cx="2159000" cy="2921000"/>
          </a:xfrm>
          <a:prstGeom prst="roundRect">
            <a:avLst>
              <a:gd name="adj" fmla="val 4705"/>
            </a:avLst>
          </a:prstGeom>
          <a:solidFill>
            <a:srgbClr val="061D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635000" y="19050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Supervisor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26443">
            <a:off x="762024" y="23431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635000" y="2476500"/>
            <a:ext cx="190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识别用户意图、提取条件并选择分支</a:t>
            </a:r>
            <a:endParaRPr lang="en-US" sz="1100" b="0" i="0" u="none" strike="noStrike">
              <a:solidFill>
                <a:srgbClr val="FFFFFF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1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控制方式</a:t>
            </a:r>
            <a:endParaRPr lang="en-US" sz="1100" b="1" i="0" u="none" strike="noStrike">
              <a:solidFill>
                <a:srgbClr val="FFFFFF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规则与模型结合，模型条件经校验后才执行工具</a:t>
            </a:r>
            <a:endParaRPr lang="en-US" sz="1100" b="0" i="0" u="none" strike="noStrike">
              <a:solidFill>
                <a:srgbClr val="FFFFFF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844800" y="1714500"/>
            <a:ext cx="2159000" cy="2921000"/>
          </a:xfrm>
          <a:prstGeom prst="roundRect">
            <a:avLst>
              <a:gd name="adj" fmla="val 4705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61D5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2971800" y="19050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SearchAgent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26443">
            <a:off x="3098824" y="23431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61D5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2971800" y="2476500"/>
            <a:ext cx="190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查询历史合作案例并返回结构化结果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1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控制方式</a:t>
            </a:r>
            <a:endParaRPr lang="en-US" sz="1100" b="1" i="0" u="none" strike="noStrike">
              <a:solidFill>
                <a:srgbClr val="061D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参数化 SQL、分页和案例指标聚合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181600" y="1714500"/>
            <a:ext cx="2159000" cy="2921000"/>
          </a:xfrm>
          <a:prstGeom prst="roundRect">
            <a:avLst>
              <a:gd name="adj" fmla="val 4705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61D5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5308600" y="19050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SalesScript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26443">
            <a:off x="5435624" y="23431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61D5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 txBox="1"/>
          <p:nvPr/>
        </p:nvSpPr>
        <p:spPr>
          <a:xfrm>
            <a:off x="5308600" y="2476500"/>
            <a:ext cx="190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检索销售话术候选片段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1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控制方式</a:t>
            </a:r>
            <a:endParaRPr lang="en-US" sz="1100" b="1" i="0" u="none" strike="noStrike">
              <a:solidFill>
                <a:srgbClr val="061D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显示原文、来源、距离和待审核状态，不补造来源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518400" y="1714500"/>
            <a:ext cx="2159000" cy="2921000"/>
          </a:xfrm>
          <a:prstGeom prst="roundRect">
            <a:avLst>
              <a:gd name="adj" fmla="val 4705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61D5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7645400" y="19050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ProposalAgent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6443">
            <a:off x="7772424" y="23431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61D5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 txBox="1"/>
          <p:nvPr/>
        </p:nvSpPr>
        <p:spPr>
          <a:xfrm>
            <a:off x="7645400" y="2476500"/>
            <a:ext cx="190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八章方案分章检索与生成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1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控制方式</a:t>
            </a:r>
            <a:endParaRPr lang="en-US" sz="1100" b="1" i="0" u="none" strike="noStrike">
              <a:solidFill>
                <a:srgbClr val="061D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保留商家输入、历史参考和缺失字段边界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855200" y="1714500"/>
            <a:ext cx="2159000" cy="2921000"/>
          </a:xfrm>
          <a:prstGeom prst="roundRect">
            <a:avLst>
              <a:gd name="adj" fmla="val 4705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61D5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9982200" y="19050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ResponseAgent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26443">
            <a:off x="10109224" y="23431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61D5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 txBox="1"/>
          <p:nvPr/>
        </p:nvSpPr>
        <p:spPr>
          <a:xfrm>
            <a:off x="9982200" y="2476500"/>
            <a:ext cx="190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把结果整理成简洁答复或客户版报告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1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控制方式</a:t>
            </a:r>
            <a:endParaRPr lang="en-US" sz="1100" b="1" i="0" u="none" strike="noStrike">
              <a:solidFill>
                <a:srgbClr val="061D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确定性清理内部字段和来源代号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 txBox="1"/>
          <p:nvPr/>
        </p:nvSpPr>
        <p:spPr>
          <a:xfrm>
            <a:off x="508000" y="4889500"/>
            <a:ext cx="1117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请求链路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08000" y="5334000"/>
            <a:ext cx="11176000" cy="762000"/>
          </a:xfrm>
          <a:prstGeom prst="roundRect">
            <a:avLst>
              <a:gd name="adj" fmla="val 10000"/>
            </a:avLst>
          </a:prstGeom>
          <a:solidFill>
            <a:srgbClr val="D4E5F7">
              <a:alpha val="40000"/>
            </a:srgbClr>
          </a:solidFill>
          <a:ln w="12700" cap="flat" cmpd="sng">
            <a:solidFill>
              <a:srgbClr val="061D5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 txBox="1"/>
          <p:nvPr/>
        </p:nvSpPr>
        <p:spPr>
          <a:xfrm>
            <a:off x="508000" y="55245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用户输入 → 总控意图识别 → 分支路由（案例 / 话术 / 方案 / 运营） → 数据库 / 向量库 / 生成模型 → 保留引用与状态 → 网页结果或 PPTX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508000" y="3556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811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知识库与文档检索：四类知识独立入库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508040" y="908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61D5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508000" y="1143000"/>
            <a:ext cx="1117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四类知识集合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587500"/>
            <a:ext cx="266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61D5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635000" y="1752600"/>
            <a:ext cx="241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历史案例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35000" y="2159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 中的商家、案例和指标表保持结构化关系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支持按城市、赛道和商家名称定位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302000" y="1587500"/>
            <a:ext cx="266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61D5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3429000" y="1752600"/>
            <a:ext cx="241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销售话术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429000" y="2159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sell_talk.md 按章节切分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 BGE 中文向量模型写入 sales_scripts 集合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返回原文和章节引用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096000" y="1587500"/>
            <a:ext cx="266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61D5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6223000" y="1752600"/>
            <a:ext cx="241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历史文档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223000" y="2159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PDF 按页、PPTX 按幻灯片抽取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写入独立 case_documents 集合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保留文件名、页码 / 幻灯片号、哈希和审核状态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890000" y="1587500"/>
            <a:ext cx="2794000" cy="2159000"/>
          </a:xfrm>
          <a:prstGeom prst="roundRect">
            <a:avLst>
              <a:gd name="adj" fmla="val 4705"/>
            </a:avLst>
          </a:prstGeom>
          <a:solidFill>
            <a:srgbClr val="061D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9017000" y="17526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 方案检索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9017000" y="2159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八个章节分别检索，优先匹配章节主题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同时展示用户提供资料、待补字段和历史参考</a:t>
            </a:r>
            <a:endParaRPr lang="en-US" sz="1100" b="0" i="0" u="none" strike="noStrike">
              <a:solidFill>
                <a:srgbClr val="FFFFFF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 txBox="1"/>
          <p:nvPr/>
        </p:nvSpPr>
        <p:spPr>
          <a:xfrm>
            <a:off x="508000" y="4000500"/>
            <a:ext cx="1117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OCR 补充（针对原生文字不足的 PPTX 页面）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8000" y="4445000"/>
            <a:ext cx="11176000" cy="1270000"/>
          </a:xfrm>
          <a:prstGeom prst="roundRect">
            <a:avLst>
              <a:gd name="adj" fmla="val 6000"/>
            </a:avLst>
          </a:prstGeom>
          <a:solidFill>
            <a:srgbClr val="D4E5F7">
              <a:alpha val="35000"/>
            </a:srgbClr>
          </a:solidFill>
          <a:ln w="12700" cap="flat" cmpd="sng">
            <a:solidFill>
              <a:srgbClr val="061D5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762000" y="4635500"/>
            <a:ext cx="1066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对原生文字不足或可见图片覆盖较大的 PPTX 页面，按需调用独立 PaddleOCR；</a:t>
            </a: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原生文本优先，OCR 结果去重并保留置信度</a:t>
            </a: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已验证案例（阿嫂 PPTX）：23 张有效幻灯片、30 个片段，OCR 命中 9 张，新增 </a:t>
            </a: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3,369 个有效字符</a:t>
            </a: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；第 12、13、15 张分别识别为不同内容，避免把画布外备用图误写入索引。</a:t>
            </a:r>
            <a:endParaRPr lang="en-US" sz="12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 txBox="1"/>
          <p:nvPr/>
        </p:nvSpPr>
        <p:spPr>
          <a:xfrm>
            <a:off x="508000" y="5969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A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设计原则：不同业务资料分独立集合，降低相互污染；所有来源保留文件名、页码和审核状态。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508000" y="3556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811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售中与售后业务闭环：从"能回答"到"能支持销售工作"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508040" y="908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61D5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508000" y="1092200"/>
            <a:ext cx="1117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系统不仅给出内容，还能把商家资料和项目数据整理成可汇报、可下载的客户版材料。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08000" y="1714500"/>
          <a:ext cx="11176000" cy="419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5588000"/>
                <a:gridCol w="3810000"/>
              </a:tblGrid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环节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D5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实现内容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D5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交付结果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D59">
                        <a:alpha val="100000"/>
                      </a:srgbClr>
                    </a:solidFill>
                  </a:tcPr>
                </a:tc>
              </a:tr>
              <a:tr h="901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61D5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项目定位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E5F7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91D3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按商家名称定位项目，不要求销售填写数据库项目 ID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61D5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快速进入对应项目工作区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01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61D5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周度跟进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E5F7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91D3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录入本周运营数据并即时生成项目周报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61D5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网页结果与周报 PPTX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01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61D5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合作复盘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E5F7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91D3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汇总项目基础信息、阶段表现和合作结论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61D5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网页结果与合作总结 PPTX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14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61D5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客户版输出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E5F7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91D3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统一字体、状态中文化并清理内部字段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61D5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可直接预览和下载的演示文档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508000" y="3556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811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当前验收成果：运行中验收已通过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508040" y="908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61D5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508000" y="1092200"/>
            <a:ext cx="1117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验收覆盖账号登录、业务查询、内容生成、逐页预览和文件下载，核心演示链路均可独立运行。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587500"/>
            <a:ext cx="3556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61D5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698500" y="17526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服务启动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98500" y="2159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FastAPI 与 Next.js 成功启动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健康检查和前端首页返回 200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18000" y="1587500"/>
            <a:ext cx="3556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61D5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4508500" y="17526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角色与登录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508500" y="2159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销售和审核员账号可登录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最近账号免密切换可用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587500"/>
            <a:ext cx="3556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61D5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8318500" y="17526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历史案例与销售话术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8318500" y="2159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武汉烧烤案例摘要与完整指标可取得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价格异议问题命中对应章节来源</a:t>
            </a:r>
            <a:endParaRPr lang="en-US" sz="11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08000" y="3492500"/>
            <a:ext cx="27305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61D5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635000" y="3657600"/>
            <a:ext cx="2476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营销方案生成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35000" y="4038600"/>
            <a:ext cx="247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固定八章、分章参考、OCR 案例引用和 30 天连续执行计划均可生成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429000" y="3492500"/>
            <a:ext cx="2730500" cy="1651000"/>
          </a:xfrm>
          <a:prstGeom prst="roundRect">
            <a:avLst>
              <a:gd name="adj" fmla="val 6153"/>
            </a:avLst>
          </a:prstGeom>
          <a:solidFill>
            <a:srgbClr val="061D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3556000" y="3657600"/>
            <a:ext cx="2476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报告导出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3556000" y="4038600"/>
            <a:ext cx="247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营销方案、项目周报、合作总结均成功导出 PPTX</a:t>
            </a:r>
            <a:endParaRPr lang="en-US" sz="1000" b="1" i="0" u="none" strike="noStrike">
              <a:solidFill>
                <a:srgbClr val="FFFFFF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350000" y="3492500"/>
            <a:ext cx="27305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61D5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 txBox="1"/>
          <p:nvPr/>
        </p:nvSpPr>
        <p:spPr>
          <a:xfrm>
            <a:off x="6477000" y="3657600"/>
            <a:ext cx="2476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输出质量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6477000" y="4038600"/>
            <a:ext cx="247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三类 PPTX 均完成结构、字体、版面和逐页渲染检查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271000" y="3492500"/>
            <a:ext cx="2413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61D5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 txBox="1"/>
          <p:nvPr/>
        </p:nvSpPr>
        <p:spPr>
          <a:xfrm>
            <a:off x="9398000" y="3657600"/>
            <a:ext cx="215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逐页预览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9398000" y="40386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网页端可逐页查看生成结果并直接下载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508000" y="5461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验收结论：</a:t>
            </a: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登录、查询、生成、预览和三类 PPTX 导出均已完成运行中验收，核心演示链路可独立运行。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508000" y="3556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811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项目亮点：从问答到销售全流程工作台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508040" y="908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61D5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508000" y="1270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亮点一 全流程工作台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508000" y="17145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从自然语言问答扩展到售前资料准备、售中跟进和售后总结，覆盖销售完整工作链路。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508000" y="2667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亮点二 知识集合隔离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508000" y="31115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历史案例、销售话术和案例文档分为独立知识集合，降低不同业务资料相互污染。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508000" y="4064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亮点三 结构化 + 八章结合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508000" y="45085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既能生成方案正文，也能明确告诉销售哪些信息仍然缺失，避免方案空洞。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223000" y="1270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亮点四 客户版 PPTX 交付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6223000" y="17145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固定字体和版面检查，减少内部字段、引用符号和排版问题直接交付给客户。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6223000" y="2667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亮点五 连贯演示体验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223000" y="31115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账号、工作台、智能检索和报告导出形成连贯体验，能够完整演示销售人员的核心使用流程。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4064000"/>
            <a:ext cx="5461000" cy="1270000"/>
          </a:xfrm>
          <a:prstGeom prst="roundRect">
            <a:avLst>
              <a:gd name="adj" fmla="val 8000"/>
            </a:avLst>
          </a:prstGeom>
          <a:solidFill>
            <a:srgbClr val="061D59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6477000" y="4254500"/>
            <a:ext cx="495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最重要的产出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把销售工作中分散的查询、写作、跟进、审核和汇报动作，整理成一套可复用、可追踪、可继续扩展的业务系统。</a:t>
            </a:r>
            <a:endParaRPr lang="en-US" sz="1200" b="0" i="0" u="none" strike="noStrike">
              <a:solidFill>
                <a:srgbClr val="FFFFFF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508000" y="5588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A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从"能回答问题"到"能支持销售工作"的关键转变：系统给出的不再是孤立文本，而是可引用、可导出、可交付的业务材料。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508000" y="3556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811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项目总结与个人收获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508040" y="908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61D5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508000" y="1270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个人收获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7994">
            <a:off x="508007" y="170815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61D59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508000" y="1905000"/>
            <a:ext cx="5461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全链路思考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从单一功能实现转向全链路思考：不仅关注模型回答，还关注数据来源、审核边界、导出结果和业务责任。</a:t>
            </a:r>
            <a:endParaRPr lang="en-US" sz="12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组合式工程方法</a:t>
            </a:r>
            <a:endParaRPr lang="en-US" sz="1200" b="1" i="0" u="none" strike="noStrike">
              <a:solidFill>
                <a:srgbClr val="061D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掌握了 Agent 工作流、结构化输出、向量检索、OCR 补充和 PPTX 自动生成等组合式工程方法。</a:t>
            </a:r>
            <a:endParaRPr lang="en-US" sz="12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从用户场景出发的开发方法</a:t>
            </a:r>
            <a:endParaRPr lang="en-US" sz="1200" b="1" i="0" u="none" strike="noStrike">
              <a:solidFill>
                <a:srgbClr val="061D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形成了从用户场景出发设计数据结构、Agent 分工、内容模板和交付形式的完整开发方法。</a:t>
            </a:r>
            <a:endParaRPr lang="en-US" sz="12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6223000" y="1270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项目价值回顾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7994">
            <a:off x="6223007" y="170815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61D59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223000" y="1968500"/>
            <a:ext cx="5461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61D5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6477000" y="2159000"/>
            <a:ext cx="495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服务对象</a:t>
            </a: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销售、审核、管理者、售后协作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核心模块</a:t>
            </a: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案例 / 话术 / 方案 / 周报 / 总结</a:t>
            </a:r>
            <a:endParaRPr lang="en-US" sz="12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智能能力</a:t>
            </a: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意图识别、向量检索、OCR、PPTX 导出</a:t>
            </a:r>
            <a:endParaRPr lang="en-US" sz="12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061D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当前状态</a:t>
            </a:r>
            <a:r>
              <a:rPr lang="en-US" sz="1200" b="0" i="0" u="none" strike="noStrike">
                <a:solidFill>
                  <a:srgbClr val="191D3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登录、查询、生成、预览、三类 PPTX 导出均已运行中验收</a:t>
            </a:r>
            <a:endParaRPr lang="en-US" sz="1200" b="0" i="0" u="none" strike="noStrike">
              <a:solidFill>
                <a:srgbClr val="191D3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4508500"/>
            <a:ext cx="5461000" cy="1524000"/>
          </a:xfrm>
          <a:prstGeom prst="roundRect">
            <a:avLst>
              <a:gd name="adj" fmla="val 6666"/>
            </a:avLst>
          </a:prstGeom>
          <a:solidFill>
            <a:srgbClr val="061D59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6477000" y="4762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感谢聆听，欢迎提问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点评销售智能助手 · 项目答辩 · 2026 年 10 月</a:t>
            </a:r>
            <a:endParaRPr lang="en-US" sz="1200" b="1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2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3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4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5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6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7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8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9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10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11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12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13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14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15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16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17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18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19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20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21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22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23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ags/tag24.xml><?xml version="1.0" encoding="utf-8"?>
<p:tagLst xmlns:p="http://schemas.openxmlformats.org/presentationml/2006/main">
  <p:tag name="KSO_WM_DIAGRAM_VIRTUALLY_FRAME" val="{&quot;height&quot;:342,&quot;left&quot;:40,&quot;top&quot;:125,&quot;width&quot;:88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4046</Words>
  <Application>WPS 演示</Application>
  <PresentationFormat/>
  <Paragraphs>401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温酒</cp:lastModifiedBy>
  <cp:revision>2</cp:revision>
  <dcterms:created xsi:type="dcterms:W3CDTF">2026-10-08T00:25:11Z</dcterms:created>
  <dcterms:modified xsi:type="dcterms:W3CDTF">2026-10-08T00:30:58Z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37AF24AD9229476A89DADAC549AB0870_13</vt:lpwstr>
  </property>
  <property fmtid="{D5CDD505-2E9C-101B-9397-08002B2CF9AE}" pid="3" name="KSOProductBuildVer">
    <vt:lpwstr>2052-12.1.0.28505</vt:lpwstr>
  </property>
</Properties>
</file>